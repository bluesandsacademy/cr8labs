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15 sec. Lead with the sentence, not the company. We build the 3D layer for African stories. AR puts the story in your hand, VR puts you inside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20 sec. Land the last line hard. Nobody is short of stories. What is missing is the layer that makes them dimensional.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20 sec. Three postures towards a story. We sell the third one, and it is the only one that turns a story into a product people pay to re 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20 sec. Read it bottom to top. Story first, technology second. The layers are reusable, which is why margin improves with every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25 sec. AR is the volume business, VR is the margin business. The same 3D assets serve both, which is the efficiency most studios do not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25 sec. Do not read all six. Name the three closest to the investor in the room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20 sec. Step five is the investment case. Steps one to four are services. Step five is where the compounding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25 sec. Revenue first, then reach, then the institutions who have already validated us. This is a working company, not a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20 sec. The staircase is the strategy. Each step is funded by the one before it and uses the same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20 sec. Increase recurring revenue and convert successful projects into reusable products and IP. That is the whole model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25 sec. Left is how revenue arrives, right is why it stays. Anyone can buy a headset. Very few can ship a culturally accurate 3D world that runs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time: 25 sec. Close on the ambition. Then stop and let them ask the first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-10561320" y="3977640"/>
            <a:ext cx="1687068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-8686800" y="3977640"/>
            <a:ext cx="1499616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-6812280" y="3977640"/>
            <a:ext cx="1312164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-4937760" y="3977640"/>
            <a:ext cx="1124712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-3063240" y="3977640"/>
            <a:ext cx="937260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-1188720" y="3977640"/>
            <a:ext cx="749808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85800" y="3977640"/>
            <a:ext cx="562356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560320" y="3977640"/>
            <a:ext cx="374904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434840" y="3977640"/>
            <a:ext cx="187452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977640"/>
            <a:ext cx="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977640"/>
            <a:ext cx="187452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977640"/>
            <a:ext cx="374904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977640"/>
            <a:ext cx="562356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977640"/>
            <a:ext cx="749808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977640"/>
            <a:ext cx="937260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977640"/>
            <a:ext cx="1124712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977640"/>
            <a:ext cx="1312164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977640"/>
            <a:ext cx="1499616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977640"/>
            <a:ext cx="16870680" cy="288036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105656"/>
            <a:ext cx="12191695" cy="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87439"/>
            <a:ext cx="12191695" cy="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45570"/>
            <a:ext cx="12191695" cy="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912117"/>
            <a:ext cx="12191695" cy="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432613"/>
            <a:ext cx="12191695" cy="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171718"/>
            <a:ext cx="12191695" cy="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pic>
        <p:nvPicPr>
          <p:cNvPr id="27" name="Image 0" descr="img/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868680" cy="5943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13232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STORYTELLING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178308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8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you can
</a:t>
            </a:r>
            <a:pPr indent="0" marL="0">
              <a:lnSpc>
                <a:spcPts val="6200"/>
              </a:lnSpc>
              <a:buNone/>
            </a:pPr>
            <a:r>
              <a:rPr lang="en-US" sz="5800" b="1" spc="-100" kern="0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into.</a:t>
            </a:r>
            <a:endParaRPr lang="en-US" sz="58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" y="41605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cr8labb builds the 3D layer for African stories. We take a book, an archive, a brand or a piece of heritage and rebuild it as an experience people step inside, in AR on a phone or in VR on a headset.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85800" y="5532120"/>
            <a:ext cx="713232" cy="384048"/>
          </a:xfrm>
          <a:prstGeom prst="roundRect">
            <a:avLst>
              <a:gd name="adj" fmla="val 47619"/>
            </a:avLst>
          </a:prstGeom>
          <a:ln w="12700">
            <a:solidFill>
              <a:srgbClr val="5F57A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553212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600200" y="5532120"/>
            <a:ext cx="713232" cy="384048"/>
          </a:xfrm>
          <a:prstGeom prst="roundRect">
            <a:avLst>
              <a:gd name="adj" fmla="val 47619"/>
            </a:avLst>
          </a:prstGeom>
          <a:ln w="12700">
            <a:solidFill>
              <a:srgbClr val="5F57A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600200" y="553212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2514600" y="5532120"/>
            <a:ext cx="713232" cy="384048"/>
          </a:xfrm>
          <a:prstGeom prst="roundRect">
            <a:avLst>
              <a:gd name="adj" fmla="val 47619"/>
            </a:avLst>
          </a:prstGeom>
          <a:ln w="12700">
            <a:solidFill>
              <a:srgbClr val="5F57A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514600" y="553212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429000" y="5532120"/>
            <a:ext cx="1869948" cy="384048"/>
          </a:xfrm>
          <a:prstGeom prst="roundRect">
            <a:avLst>
              <a:gd name="adj" fmla="val 47619"/>
            </a:avLst>
          </a:prstGeom>
          <a:ln w="12700">
            <a:solidFill>
              <a:srgbClr val="5F57A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429000" y="5532120"/>
            <a:ext cx="1869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AUDIO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500116" y="5532120"/>
            <a:ext cx="1869948" cy="384048"/>
          </a:xfrm>
          <a:prstGeom prst="roundRect">
            <a:avLst>
              <a:gd name="adj" fmla="val 47619"/>
            </a:avLst>
          </a:prstGeom>
          <a:ln w="12700">
            <a:solidFill>
              <a:srgbClr val="5F57A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500116" y="5532120"/>
            <a:ext cx="1869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CHARACTERS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8580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CREATE. EXPERIMENT. INNOVATE.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8366760" y="1417320"/>
            <a:ext cx="3017520" cy="868680"/>
          </a:xfrm>
          <a:prstGeom prst="parallelogram">
            <a:avLst/>
          </a:prstGeom>
          <a:solidFill>
            <a:srgbClr val="3A3480"/>
          </a:solidFill>
          <a:ln w="12700">
            <a:solidFill>
              <a:srgbClr val="5F57A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641080" y="2148840"/>
            <a:ext cx="3017520" cy="868680"/>
          </a:xfrm>
          <a:prstGeom prst="parallelogram">
            <a:avLst/>
          </a:prstGeom>
          <a:solidFill>
            <a:srgbClr val="5F57A8"/>
          </a:solidFill>
          <a:ln w="12700">
            <a:solidFill>
              <a:srgbClr val="5F57A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915400" y="2880360"/>
            <a:ext cx="3017520" cy="868680"/>
          </a:xfrm>
          <a:prstGeom prst="parallelogram">
            <a:avLst/>
          </a:prstGeom>
          <a:solidFill>
            <a:srgbClr val="FFEB59"/>
          </a:solidFill>
          <a:ln w="12700">
            <a:solidFill>
              <a:srgbClr val="FFEB5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09828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88239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WORLD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854964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has the stories. They are stuck flat.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continent holds enormous narrative, cultural and scientific capital. Almost all of it sits in formats that can only be read or watched, never entered.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F2F1F8"/>
          </a:solidFill>
          <a:ln w="6350">
            <a:solidFill>
              <a:srgbClr val="F2F1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615184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276C"/>
            </a:solidFill>
            <a:prstDash val="solid"/>
          </a:ln>
        </p:spPr>
      </p:sp>
      <p:pic>
        <p:nvPicPr>
          <p:cNvPr id="7" name="Image 0" descr="img/ic_story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343" y="2768255"/>
            <a:ext cx="260787" cy="2607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static formats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99923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archives, museum collections and curricula stay two dimensional. The experience ends at the page or the display case.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46520" y="228600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F2F1F8"/>
          </a:solidFill>
          <a:ln w="6350">
            <a:solidFill>
              <a:srgbClr val="F2F1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93992" y="2615184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276C"/>
            </a:solidFill>
            <a:prstDash val="solid"/>
          </a:ln>
        </p:spPr>
      </p:sp>
      <p:pic>
        <p:nvPicPr>
          <p:cNvPr id="12" name="Image 1" descr="img/ic_cube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63" y="2768255"/>
            <a:ext cx="260787" cy="2607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Immersive tech is out of reach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7543800" y="299923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AR, VR and 3D production demand studios, engines and specialists that most institutions and creators cannot staff.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" y="443484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F2F1F8"/>
          </a:solidFill>
          <a:ln w="6350">
            <a:solidFill>
              <a:srgbClr val="F2F1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33272" y="4764024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276C"/>
            </a:solidFill>
            <a:prstDash val="solid"/>
          </a:ln>
        </p:spPr>
      </p:sp>
      <p:pic>
        <p:nvPicPr>
          <p:cNvPr id="17" name="Image 2" descr="img/ic_museum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343" y="4917095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47640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is under digitised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514807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heritage, language and history are barely represented in 3D, so the global immersive canon is being written without us.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46520" y="443484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F2F1F8"/>
          </a:solidFill>
          <a:ln w="6350">
            <a:solidFill>
              <a:srgbClr val="F2F1F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793992" y="4764024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276C"/>
            </a:solidFill>
            <a:prstDash val="solid"/>
          </a:ln>
        </p:spPr>
      </p:sp>
      <p:pic>
        <p:nvPicPr>
          <p:cNvPr id="22" name="Image 3" descr="img/ic_mobile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063" y="4917095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543800" y="47640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Audiences moved first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7543800" y="514807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audiences already expect to interact, not observe. Flat content loses them before the story lands.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85800" y="64008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not content. The gap is dimension.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640080"/>
            <a:ext cx="2926080" cy="2926080"/>
          </a:xfrm>
          <a:prstGeom prst="ellipse">
            <a:avLst/>
          </a:prstGeom>
          <a:ln w="15875">
            <a:solidFill>
              <a:srgbClr val="3A34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-228600"/>
            <a:ext cx="2103120" cy="2103120"/>
          </a:xfrm>
          <a:prstGeom prst="ellipse">
            <a:avLst/>
          </a:prstGeom>
          <a:ln w="15875">
            <a:solidFill>
              <a:srgbClr val="3A34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182880"/>
            <a:ext cx="1280160" cy="1280160"/>
          </a:xfrm>
          <a:prstGeom prst="ellipse">
            <a:avLst/>
          </a:prstGeom>
          <a:ln w="15875">
            <a:solidFill>
              <a:srgbClr val="3A34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it. Watch it. Or stand inside it.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39696" y="2532888"/>
            <a:ext cx="512064" cy="512064"/>
          </a:xfrm>
          <a:prstGeom prst="ellipse">
            <a:avLst/>
          </a:prstGeom>
          <a:ln w="19050">
            <a:solidFill>
              <a:srgbClr val="5F57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724912"/>
            <a:ext cx="128016" cy="128016"/>
          </a:xfrm>
          <a:prstGeom prst="ellipse">
            <a:avLst/>
          </a:prstGeom>
          <a:solidFill>
            <a:srgbClr val="5F57A8"/>
          </a:solidFill>
          <a:ln w="6350">
            <a:solidFill>
              <a:srgbClr val="5F57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566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77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F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illustration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3434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9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imagines the world. Attention is fragile and comprehension varies wildly.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196596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34456" y="2532888"/>
            <a:ext cx="512064" cy="512064"/>
          </a:xfrm>
          <a:prstGeom prst="ellipse">
            <a:avLst/>
          </a:prstGeom>
          <a:ln w="19050">
            <a:solidFill>
              <a:srgbClr val="A9A3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33288" y="2331720"/>
            <a:ext cx="914400" cy="914400"/>
          </a:xfrm>
          <a:prstGeom prst="ellipse">
            <a:avLst/>
          </a:prstGeom>
          <a:ln w="19050">
            <a:solidFill>
              <a:srgbClr val="A9A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724912"/>
            <a:ext cx="128016" cy="128016"/>
          </a:xfrm>
          <a:prstGeom prst="ellipse">
            <a:avLst/>
          </a:prstGeom>
          <a:solidFill>
            <a:srgbClr val="A9A3DC"/>
          </a:solidFill>
          <a:ln w="6350">
            <a:solidFill>
              <a:srgbClr val="A9A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566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977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A9A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and animation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3434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is shown. The viewer is still on the outside of it, following someone else's camera.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75320" y="196596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2C276C"/>
          </a:solidFill>
          <a:ln w="19050">
            <a:solidFill>
              <a:srgbClr val="FFEB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29216" y="2532888"/>
            <a:ext cx="512064" cy="512064"/>
          </a:xfrm>
          <a:prstGeom prst="ellipse">
            <a:avLst/>
          </a:prstGeom>
          <a:ln w="19050">
            <a:solidFill>
              <a:srgbClr val="FFEB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28048" y="2331720"/>
            <a:ext cx="914400" cy="914400"/>
          </a:xfrm>
          <a:prstGeom prst="ellipse">
            <a:avLst/>
          </a:prstGeom>
          <a:ln w="19050">
            <a:solidFill>
              <a:srgbClr val="FFEB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2130552"/>
            <a:ext cx="1316736" cy="1316736"/>
          </a:xfrm>
          <a:prstGeom prst="ellipse">
            <a:avLst/>
          </a:prstGeom>
          <a:ln w="19050">
            <a:solidFill>
              <a:srgbClr val="FFEB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1240" y="2724912"/>
            <a:ext cx="128016" cy="128016"/>
          </a:xfrm>
          <a:prstGeom prst="ellipse">
            <a:avLst/>
          </a:prstGeom>
          <a:solidFill>
            <a:srgbClr val="FFEB59"/>
          </a:solidFill>
          <a:ln w="6350">
            <a:solidFill>
              <a:srgbClr val="FFEB5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3566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977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and VR in 3D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43434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is around you and responds to you. You move, choose, handle objects and remember it.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rises when the audience stops observing and starts participating. That is the whole business.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immersive storytelling engine.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we ship runs on the same five layers. We build them once and reuse them across industries.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271016" y="2148840"/>
            <a:ext cx="4206240" cy="658368"/>
          </a:xfrm>
          <a:prstGeom prst="parallelogram">
            <a:avLst/>
          </a:prstGeom>
          <a:solidFill>
            <a:srgbClr val="FFEB59"/>
          </a:solidFill>
          <a:ln w="12700">
            <a:solidFill>
              <a:srgbClr val="FFEB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36776" y="21488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39696" y="21488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2402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tablet, headset, web and offline packages.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24712" y="2935224"/>
            <a:ext cx="4206240" cy="658368"/>
          </a:xfrm>
          <a:prstGeom prst="parallelogram">
            <a:avLst/>
          </a:prstGeom>
          <a:solidFill>
            <a:srgbClr val="5F57A8"/>
          </a:solidFill>
          <a:ln w="12700">
            <a:solidFill>
              <a:srgbClr val="5F57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90472" y="29352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993392" y="293522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VOICE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0266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that answer, narrate and adapt to the user.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78408" y="3721608"/>
            <a:ext cx="4206240" cy="658368"/>
          </a:xfrm>
          <a:prstGeom prst="parallelogram">
            <a:avLst/>
          </a:prstGeom>
          <a:solidFill>
            <a:srgbClr val="5F57A8"/>
          </a:solidFill>
          <a:ln w="12700">
            <a:solidFill>
              <a:srgbClr val="5F57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44168" y="372160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47088" y="37216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INTERACTION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8130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up, rotate, walk through, trigger, solve.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32104" y="4507992"/>
            <a:ext cx="4206240" cy="658368"/>
          </a:xfrm>
          <a:prstGeom prst="parallelogram">
            <a:avLst/>
          </a:prstGeom>
          <a:solidFill>
            <a:srgbClr val="2C276C"/>
          </a:solidFill>
          <a:ln w="12700">
            <a:solidFill>
              <a:srgbClr val="2C27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97864" y="45079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700784" y="45079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WORLDS AND CHARACTERS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459943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Modelled, rigged and optimised for low end devices.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85800" y="5294376"/>
            <a:ext cx="4206240" cy="658368"/>
          </a:xfrm>
          <a:prstGeom prst="parallelogram">
            <a:avLst/>
          </a:prstGeom>
          <a:solidFill>
            <a:srgbClr val="2C276C"/>
          </a:solidFill>
          <a:ln w="12700">
            <a:solidFill>
              <a:srgbClr val="2C276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5294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2943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AND SCRIPT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53858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narrative design and cultural accuracy.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5800" y="6144768"/>
            <a:ext cx="10817352" cy="548640"/>
          </a:xfrm>
          <a:prstGeom prst="roundRect">
            <a:avLst>
              <a:gd name="adj" fmla="val 13333"/>
            </a:avLst>
          </a:prstGeom>
          <a:solidFill>
            <a:srgbClr val="2C276C"/>
          </a:solidFill>
          <a:ln w="6350">
            <a:solidFill>
              <a:srgbClr val="2C276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62544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 for a classroom, a museum, a broadcaster and a brand. The project pays for the platform.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brings the story to you. VR takes you to the story.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2C276C"/>
          </a:solidFill>
          <a:ln w="12700">
            <a:solidFill>
              <a:srgbClr val="2C27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48840"/>
            <a:ext cx="685800" cy="685800"/>
          </a:xfrm>
          <a:prstGeom prst="ellipse">
            <a:avLst/>
          </a:prstGeom>
          <a:solidFill>
            <a:srgbClr val="1A1748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6" name="Image 0" descr="img/ic_ar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726" y="2334006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REALITY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063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appears in your room, on your desk, on the page in front of you.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38428" y="3863340"/>
            <a:ext cx="100584" cy="100584"/>
          </a:xfrm>
          <a:prstGeom prst="ellipse">
            <a:avLst/>
          </a:prstGeom>
          <a:solidFill>
            <a:srgbClr val="FFEB59"/>
          </a:solidFill>
          <a:ln w="6350">
            <a:solidFill>
              <a:srgbClr val="FFEB5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17320" y="3794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phone or tablet already in the room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138428" y="4366260"/>
            <a:ext cx="100584" cy="100584"/>
          </a:xfrm>
          <a:prstGeom prst="ellipse">
            <a:avLst/>
          </a:prstGeom>
          <a:solidFill>
            <a:srgbClr val="FFEB59"/>
          </a:solidFill>
          <a:ln w="6350">
            <a:solidFill>
              <a:srgbClr val="FFEB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17320" y="4297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to print, packaging, artefacts and places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138428" y="4869180"/>
            <a:ext cx="100584" cy="100584"/>
          </a:xfrm>
          <a:prstGeom prst="ellipse">
            <a:avLst/>
          </a:prstGeom>
          <a:solidFill>
            <a:srgbClr val="FFEB59"/>
          </a:solidFill>
          <a:ln w="6350">
            <a:solidFill>
              <a:srgbClr val="FFEB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1732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thousands of users at almost no unit cost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138428" y="5372100"/>
            <a:ext cx="100584" cy="100584"/>
          </a:xfrm>
          <a:prstGeom prst="ellipse">
            <a:avLst/>
          </a:prstGeom>
          <a:solidFill>
            <a:srgbClr val="FFEB59"/>
          </a:solidFill>
          <a:ln w="6350">
            <a:solidFill>
              <a:srgbClr val="FFEB5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17320" y="5303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once the experience is downloaded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09360" y="1783080"/>
            <a:ext cx="5193792" cy="4251960"/>
          </a:xfrm>
          <a:prstGeom prst="roundRect">
            <a:avLst>
              <a:gd name="adj" fmla="val 2581"/>
            </a:avLst>
          </a:prstGeom>
          <a:solidFill>
            <a:srgbClr val="FFEB59"/>
          </a:solidFill>
          <a:ln w="12700">
            <a:solidFill>
              <a:srgbClr val="FFEB5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75120" y="2148840"/>
            <a:ext cx="685800" cy="685800"/>
          </a:xfrm>
          <a:prstGeom prst="ellipse">
            <a:avLst/>
          </a:prstGeom>
          <a:solidFill>
            <a:srgbClr val="FFEB59"/>
          </a:solidFill>
          <a:ln w="15875">
            <a:solidFill>
              <a:srgbClr val="2C276C"/>
            </a:solidFill>
            <a:prstDash val="solid"/>
          </a:ln>
        </p:spPr>
      </p:sp>
      <p:pic>
        <p:nvPicPr>
          <p:cNvPr id="19" name="Image 1" descr="img/ic_vr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286" y="2334006"/>
            <a:ext cx="315468" cy="3154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58952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REALITY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675120" y="3063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placed inside the world. Full presence, full attention, nothing else in view.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761988" y="3863340"/>
            <a:ext cx="100584" cy="100584"/>
          </a:xfrm>
          <a:prstGeom prst="ellipse">
            <a:avLst/>
          </a:prstGeom>
          <a:solidFill>
            <a:srgbClr val="2C276C"/>
          </a:solidFill>
          <a:ln w="6350">
            <a:solidFill>
              <a:srgbClr val="2C276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040880" y="3794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retention for training and simulation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761988" y="4366260"/>
            <a:ext cx="100584" cy="100584"/>
          </a:xfrm>
          <a:prstGeom prst="ellipse">
            <a:avLst/>
          </a:prstGeom>
          <a:solidFill>
            <a:srgbClr val="2C276C"/>
          </a:solidFill>
          <a:ln w="6350">
            <a:solidFill>
              <a:srgbClr val="2C276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04088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 kingdom, a lab or a site that is gone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761988" y="4869180"/>
            <a:ext cx="100584" cy="100584"/>
          </a:xfrm>
          <a:prstGeom prst="ellipse">
            <a:avLst/>
          </a:prstGeom>
          <a:solidFill>
            <a:srgbClr val="2C276C"/>
          </a:solidFill>
          <a:ln w="6350">
            <a:solidFill>
              <a:srgbClr val="2C276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04088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for institutions and exhibitions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761988" y="5372100"/>
            <a:ext cx="100584" cy="100584"/>
          </a:xfrm>
          <a:prstGeom prst="ellipse">
            <a:avLst/>
          </a:prstGeom>
          <a:solidFill>
            <a:srgbClr val="2C276C"/>
          </a:solidFill>
          <a:ln w="6350">
            <a:solidFill>
              <a:srgbClr val="2C276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040880" y="5303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headset labs and travelling installations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685800" y="6217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production pipeline feeds both. We choose the format the audience and the budget can carry.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formats. One production line.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148840"/>
            <a:ext cx="566928" cy="566928"/>
          </a:xfrm>
          <a:prstGeom prst="ellipse">
            <a:avLst/>
          </a:prstGeom>
          <a:solidFill>
            <a:srgbClr val="1A1748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6" name="Image 0" descr="img/ic_book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479" y="2301911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78408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books and publications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pages that open into animated 3D scenes with narration and interaction.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62272" y="1874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2148840"/>
            <a:ext cx="566928" cy="566928"/>
          </a:xfrm>
          <a:prstGeom prst="ellipse">
            <a:avLst/>
          </a:prstGeom>
          <a:solidFill>
            <a:srgbClr val="1A1748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11" name="Image 1" descr="img/ic_museum_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951" y="230191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54880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Heritage and museum experiences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Artefacts, sites and kingdoms rebuilt in 3D for galleries, tourism and the diaspora.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38744" y="18745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31352" y="2148840"/>
            <a:ext cx="566928" cy="566928"/>
          </a:xfrm>
          <a:prstGeom prst="ellipse">
            <a:avLst/>
          </a:prstGeom>
          <a:solidFill>
            <a:srgbClr val="1A1748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16" name="Image 2" descr="img/ic_theater_yel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423" y="2301911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31352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characters and worlds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531352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African characters, environments and stories built as reusable digital IP.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5800" y="4023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78408" y="4297680"/>
            <a:ext cx="566928" cy="566928"/>
          </a:xfrm>
          <a:prstGeom prst="ellipse">
            <a:avLst/>
          </a:prstGeom>
          <a:solidFill>
            <a:srgbClr val="1A1748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21" name="Image 3" descr="img/ic_palette_yel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479" y="445075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78408" y="4937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and campaign experiences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78408" y="5303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activations, virtual showrooms and immersive product storytelling.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62272" y="4023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54880" y="4297680"/>
            <a:ext cx="566928" cy="566928"/>
          </a:xfrm>
          <a:prstGeom prst="ellipse">
            <a:avLst/>
          </a:prstGeom>
          <a:solidFill>
            <a:srgbClr val="1A1748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26" name="Image 4" descr="img/ic_cert_yell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951" y="4450751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754880" y="4937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simulation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754880" y="5303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and high cost procedures practised safely in VR, scored and repeatable.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38744" y="4023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531352" y="4297680"/>
            <a:ext cx="566928" cy="566928"/>
          </a:xfrm>
          <a:prstGeom prst="ellipse">
            <a:avLst/>
          </a:prstGeom>
          <a:solidFill>
            <a:srgbClr val="1A1748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31" name="Image 5" descr="img/ic_view360_yel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4423" y="4450751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531352" y="4937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tours and spaces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531352" y="5303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Campuses, facilities and destinations explored remotely in full 360.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format ships from the same team, the same asset library and the same runtime.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in. Experience out. IP kept.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2F1F8"/>
          </a:solidFill>
          <a:ln w="6350">
            <a:solidFill>
              <a:srgbClr val="F2F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240280"/>
            <a:ext cx="530352" cy="530352"/>
          </a:xfrm>
          <a:prstGeom prst="ellipse">
            <a:avLst/>
          </a:prstGeom>
          <a:solidFill>
            <a:srgbClr val="2C276C"/>
          </a:solidFill>
          <a:ln w="12700">
            <a:solidFill>
              <a:srgbClr val="2C276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240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944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346704"/>
            <a:ext cx="15727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rights, narrative design and cultural review with the source community or institution.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07792" y="196596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2F1F8"/>
          </a:solidFill>
          <a:ln w="6350">
            <a:solidFill>
              <a:srgbClr val="F2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63824" y="2240280"/>
            <a:ext cx="530352" cy="530352"/>
          </a:xfrm>
          <a:prstGeom prst="ellipse">
            <a:avLst/>
          </a:prstGeom>
          <a:solidFill>
            <a:srgbClr val="2C276C"/>
          </a:solidFill>
          <a:ln w="12700">
            <a:solidFill>
              <a:srgbClr val="2C276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63824" y="2240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63824" y="2944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3346704"/>
            <a:ext cx="15727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Modelling, rigging, animation, voice and environment production in 3D.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9784" y="196596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F2F1F8"/>
          </a:solidFill>
          <a:ln w="6350">
            <a:solidFill>
              <a:srgbClr val="F2F1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85816" y="2240280"/>
            <a:ext cx="530352" cy="530352"/>
          </a:xfrm>
          <a:prstGeom prst="ellipse">
            <a:avLst/>
          </a:prstGeom>
          <a:solidFill>
            <a:srgbClr val="2C276C"/>
          </a:solidFill>
          <a:ln w="12700">
            <a:solidFill>
              <a:srgbClr val="2C276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85816" y="2240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85816" y="2944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85816" y="3346704"/>
            <a:ext cx="15727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design, spatial audio and AI behaviour. The world learns how to respond.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1776" y="196596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2C276C"/>
          </a:solidFill>
          <a:ln w="6350">
            <a:solidFill>
              <a:srgbClr val="2C27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07808" y="2240280"/>
            <a:ext cx="530352" cy="530352"/>
          </a:xfrm>
          <a:prstGeom prst="ellipse">
            <a:avLst/>
          </a:prstGeom>
          <a:solidFill>
            <a:srgbClr val="FFEB59"/>
          </a:solidFill>
          <a:ln w="12700">
            <a:solidFill>
              <a:srgbClr val="FFEB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07808" y="2240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07808" y="2944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07808" y="3346704"/>
            <a:ext cx="15727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 AR on phones, VR on headsets and the web, online or offline.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73768" y="1965960"/>
            <a:ext cx="1993392" cy="3200400"/>
          </a:xfrm>
          <a:prstGeom prst="roundRect">
            <a:avLst>
              <a:gd name="adj" fmla="val 4587"/>
            </a:avLst>
          </a:prstGeom>
          <a:solidFill>
            <a:srgbClr val="2C276C"/>
          </a:solidFill>
          <a:ln w="6350">
            <a:solidFill>
              <a:srgbClr val="2C27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9800" y="2240280"/>
            <a:ext cx="530352" cy="530352"/>
          </a:xfrm>
          <a:prstGeom prst="ellipse">
            <a:avLst/>
          </a:prstGeom>
          <a:solidFill>
            <a:srgbClr val="FFEB59"/>
          </a:solidFill>
          <a:ln w="12700">
            <a:solidFill>
              <a:srgbClr val="FFEB5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29800" y="22402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2944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3346704"/>
            <a:ext cx="15727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License, localise, reuse the assets and monetise the IP across new formats.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5486400"/>
            <a:ext cx="10817352" cy="777240"/>
          </a:xfrm>
          <a:prstGeom prst="roundRect">
            <a:avLst>
              <a:gd name="adj" fmla="val 9412"/>
            </a:avLst>
          </a:prstGeom>
          <a:solidFill>
            <a:srgbClr val="F2F1F8"/>
          </a:solidFill>
          <a:ln w="12700">
            <a:solidFill>
              <a:srgbClr val="DEDC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just digitise a story. We keep the 3D assets, the characters and the runtime, and every project makes the next one cheaper.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7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212080"/>
            <a:ext cx="2743200" cy="2743200"/>
          </a:xfrm>
          <a:prstGeom prst="ellipse">
            <a:avLst/>
          </a:prstGeom>
          <a:ln w="15875">
            <a:solidFill>
              <a:srgbClr val="3A34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5577840"/>
            <a:ext cx="2011680" cy="2011680"/>
          </a:xfrm>
          <a:prstGeom prst="ellipse">
            <a:avLst/>
          </a:prstGeom>
          <a:ln w="15875">
            <a:solidFill>
              <a:srgbClr val="3A34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" y="5943600"/>
            <a:ext cx="1280160" cy="1280160"/>
          </a:xfrm>
          <a:prstGeom prst="ellipse">
            <a:avLst/>
          </a:prstGeom>
          <a:ln w="15875">
            <a:solidFill>
              <a:srgbClr val="3A34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309360"/>
            <a:ext cx="548640" cy="548640"/>
          </a:xfrm>
          <a:prstGeom prst="ellipse">
            <a:avLst/>
          </a:prstGeom>
          <a:ln w="15875">
            <a:solidFill>
              <a:srgbClr val="3A34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already proven the model.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544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was the proving ground. The same immersive stack now moves into culture, publishing and brand.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1993392" cy="1645920"/>
          </a:xfrm>
          <a:prstGeom prst="roundRect">
            <a:avLst>
              <a:gd name="adj" fmla="val 5556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334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₦50M+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1012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07792" y="2377440"/>
            <a:ext cx="1993392" cy="1645920"/>
          </a:xfrm>
          <a:prstGeom prst="roundRect">
            <a:avLst>
              <a:gd name="adj" fmla="val 5556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26334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100,000+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2907792" y="331012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reached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29784" y="2377440"/>
            <a:ext cx="1993392" cy="1645920"/>
          </a:xfrm>
          <a:prstGeom prst="roundRect">
            <a:avLst>
              <a:gd name="adj" fmla="val 5556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9784" y="26334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5129784" y="331012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simulations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51776" y="2377440"/>
            <a:ext cx="1993392" cy="1645920"/>
          </a:xfrm>
          <a:prstGeom prst="roundRect">
            <a:avLst>
              <a:gd name="adj" fmla="val 5556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51776" y="26334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2700" dirty="0"/>
          </a:p>
        </p:txBody>
      </p:sp>
      <p:sp>
        <p:nvSpPr>
          <p:cNvPr id="20" name="Text 18"/>
          <p:cNvSpPr txBox="1"/>
          <p:nvPr/>
        </p:nvSpPr>
        <p:spPr>
          <a:xfrm>
            <a:off x="7351776" y="331012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deployed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73768" y="2377440"/>
            <a:ext cx="1993392" cy="1645920"/>
          </a:xfrm>
          <a:prstGeom prst="roundRect">
            <a:avLst>
              <a:gd name="adj" fmla="val 5556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73768" y="263347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700" dirty="0"/>
          </a:p>
        </p:txBody>
      </p:sp>
      <p:sp>
        <p:nvSpPr>
          <p:cNvPr id="23" name="Text 21"/>
          <p:cNvSpPr txBox="1"/>
          <p:nvPr/>
        </p:nvSpPr>
        <p:spPr>
          <a:xfrm>
            <a:off x="9573768" y="331012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shipped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7548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AR and VR experiences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content and 3D simulations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and headset deployments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and low connectivity builds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backing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46520" y="48006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4800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LASRIC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48006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38160" y="4800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NITDA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829800" y="48006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29800" y="4800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NTI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46520" y="5458968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5458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CcHUB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38160" y="5458968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A1748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38160" y="5458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ReLearn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is the wedge. The opportunity is much bigger.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36118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D9D6EF"/>
          </a:solidFill>
          <a:ln w="12700">
            <a:solidFill>
              <a:srgbClr val="D9D6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4160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91032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47872" y="30175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A9A3DC"/>
          </a:solidFill>
          <a:ln w="12700">
            <a:solidFill>
              <a:srgbClr val="A9A3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22192" y="3246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822192" y="3566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and culture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59352" y="4315968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2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9944" y="246888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5F57A8"/>
          </a:solidFill>
          <a:ln w="12700">
            <a:solidFill>
              <a:srgbClr val="5F57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84264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684264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and enterprise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21424" y="3767328"/>
            <a:ext cx="1965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training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72016" y="192024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2C276C"/>
          </a:solidFill>
          <a:ln w="12700">
            <a:solidFill>
              <a:srgbClr val="2C276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46336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546336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technology infrastructure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83496" y="3218688"/>
            <a:ext cx="1965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 layer other African studios build 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building another edtech company. We are building the creative technology layer underneath all of it.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projects to platform to IP.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7635240" cy="914400"/>
          </a:xfrm>
          <a:prstGeom prst="roundRect">
            <a:avLst>
              <a:gd name="adj" fmla="val 8000"/>
            </a:avLst>
          </a:prstGeom>
          <a:solidFill>
            <a:srgbClr val="F2F1F8"/>
          </a:solidFill>
          <a:ln w="6350">
            <a:solidFill>
              <a:srgbClr val="F2F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48256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276C"/>
            </a:solidFill>
            <a:prstDash val="solid"/>
          </a:ln>
        </p:spPr>
      </p:sp>
      <p:pic>
        <p:nvPicPr>
          <p:cNvPr id="6" name="Image 0" descr="img/ic_coin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191" y="2201327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0253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licensing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31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institutional subscriptions to our immersive experiences and tools.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2916936"/>
            <a:ext cx="7635240" cy="914400"/>
          </a:xfrm>
          <a:prstGeom prst="roundRect">
            <a:avLst>
              <a:gd name="adj" fmla="val 8000"/>
            </a:avLst>
          </a:prstGeom>
          <a:solidFill>
            <a:srgbClr val="F2F1F8"/>
          </a:solidFill>
          <a:ln w="6350">
            <a:solidFill>
              <a:srgbClr val="F2F1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" y="3090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276C"/>
            </a:solidFill>
            <a:prstDash val="solid"/>
          </a:ln>
        </p:spPr>
      </p:sp>
      <p:pic>
        <p:nvPicPr>
          <p:cNvPr id="11" name="Image 1" descr="img/ic_brief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91" y="324374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044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builds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737360" y="33741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 and VR experiences for brands, museums, government and industry.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3959352"/>
            <a:ext cx="7635240" cy="914400"/>
          </a:xfrm>
          <a:prstGeom prst="roundRect">
            <a:avLst>
              <a:gd name="adj" fmla="val 8000"/>
            </a:avLst>
          </a:prstGeom>
          <a:solidFill>
            <a:srgbClr val="F2F1F8"/>
          </a:solidFill>
          <a:ln w="6350">
            <a:solidFill>
              <a:srgbClr val="F2F1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0120" y="4133088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276C"/>
            </a:solidFill>
            <a:prstDash val="solid"/>
          </a:ln>
        </p:spPr>
      </p:sp>
      <p:pic>
        <p:nvPicPr>
          <p:cNvPr id="16" name="Image 2" descr="img/ic_store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91" y="4286159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08736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licensing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4165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3D worlds, simulations and experiences licensed to third parties.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5800" y="5001768"/>
            <a:ext cx="7635240" cy="914400"/>
          </a:xfrm>
          <a:prstGeom prst="roundRect">
            <a:avLst>
              <a:gd name="adj" fmla="val 8000"/>
            </a:avLst>
          </a:prstGeom>
          <a:solidFill>
            <a:srgbClr val="F2F1F8"/>
          </a:solidFill>
          <a:ln w="6350">
            <a:solidFill>
              <a:srgbClr val="F2F1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0120" y="5175504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276C"/>
            </a:solidFill>
            <a:prstDash val="solid"/>
          </a:ln>
        </p:spPr>
      </p:sp>
      <p:pic>
        <p:nvPicPr>
          <p:cNvPr id="21" name="Image 3" descr="img/ic_theater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191" y="5328575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512978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IP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54589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African characters and stories commercialised across formats and territories.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732520" y="1874520"/>
            <a:ext cx="2770632" cy="4160520"/>
          </a:xfrm>
          <a:prstGeom prst="roundRect">
            <a:avLst>
              <a:gd name="adj" fmla="val 3300"/>
            </a:avLst>
          </a:prstGeom>
          <a:solidFill>
            <a:srgbClr val="2C276C"/>
          </a:solidFill>
          <a:ln w="12700">
            <a:solidFill>
              <a:srgbClr val="2C276C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0525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905256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A9A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once</a:t>
            </a:r>
            <a:endParaRPr lang="en-US" sz="18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E8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once. Revenue stops.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905256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052560" y="4160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forever</a:t>
            </a:r>
            <a:endParaRPr lang="en-US" sz="2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Reused, renewed and licensed across every new market we enter.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 AND MOAT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with a use case. Expand through the platform.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A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4846320" cy="603504"/>
          </a:xfrm>
          <a:prstGeom prst="roundRect">
            <a:avLst>
              <a:gd name="adj" fmla="val 12121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22576"/>
            <a:ext cx="438912" cy="438912"/>
          </a:xfrm>
          <a:prstGeom prst="ellipse">
            <a:avLst/>
          </a:prstGeom>
          <a:solidFill>
            <a:srgbClr val="FFEB59"/>
          </a:solidFill>
          <a:ln w="12700">
            <a:solidFill>
              <a:srgbClr val="FFEB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4028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institutional sales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8254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2999232"/>
            <a:ext cx="4846320" cy="603504"/>
          </a:xfrm>
          <a:prstGeom prst="roundRect">
            <a:avLst>
              <a:gd name="adj" fmla="val 12121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081528"/>
            <a:ext cx="438912" cy="438912"/>
          </a:xfrm>
          <a:prstGeom prst="ellipse">
            <a:avLst/>
          </a:prstGeom>
          <a:solidFill>
            <a:srgbClr val="FFEB59"/>
          </a:solidFill>
          <a:ln w="12700">
            <a:solidFill>
              <a:srgbClr val="FFEB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081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99923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 projects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5844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3758184"/>
            <a:ext cx="4846320" cy="603504"/>
          </a:xfrm>
          <a:prstGeom prst="roundRect">
            <a:avLst>
              <a:gd name="adj" fmla="val 12121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840480"/>
            <a:ext cx="438912" cy="438912"/>
          </a:xfrm>
          <a:prstGeom prst="ellipse">
            <a:avLst/>
          </a:prstGeom>
          <a:solidFill>
            <a:srgbClr val="FFEB59"/>
          </a:solidFill>
          <a:ln w="12700">
            <a:solidFill>
              <a:srgbClr val="FFEB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581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partnerships and grants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4343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4517136"/>
            <a:ext cx="4846320" cy="603504"/>
          </a:xfrm>
          <a:prstGeom prst="roundRect">
            <a:avLst>
              <a:gd name="adj" fmla="val 12121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599432"/>
            <a:ext cx="438912" cy="438912"/>
          </a:xfrm>
          <a:prstGeom prst="ellipse">
            <a:avLst/>
          </a:prstGeom>
          <a:solidFill>
            <a:srgbClr val="FFEB59"/>
          </a:solidFill>
          <a:ln w="12700">
            <a:solidFill>
              <a:srgbClr val="FFEB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599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5171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Productisation of what worked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51023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5276088"/>
            <a:ext cx="4846320" cy="603504"/>
          </a:xfrm>
          <a:prstGeom prst="roundRect">
            <a:avLst>
              <a:gd name="adj" fmla="val 12121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358384"/>
            <a:ext cx="438912" cy="438912"/>
          </a:xfrm>
          <a:prstGeom prst="ellipse">
            <a:avLst/>
          </a:prstGeom>
          <a:solidFill>
            <a:srgbClr val="FFEB59"/>
          </a:solidFill>
          <a:ln w="12700">
            <a:solidFill>
              <a:srgbClr val="FFEB5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5358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27608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platform revenue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ADVANTAGE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2240280"/>
            <a:ext cx="548640" cy="548640"/>
          </a:xfrm>
          <a:prstGeom prst="ellipse">
            <a:avLst/>
          </a:prstGeom>
          <a:solidFill>
            <a:srgbClr val="2C276C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31" name="Image 0" descr="img/ic_map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653" y="2388413"/>
            <a:ext cx="252374" cy="25237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7178040" y="2221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African market insight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178040" y="25328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9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for the classrooms, budgets and networks that actually exist here.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46520" y="3200400"/>
            <a:ext cx="548640" cy="548640"/>
          </a:xfrm>
          <a:prstGeom prst="ellipse">
            <a:avLst/>
          </a:prstGeom>
          <a:solidFill>
            <a:srgbClr val="2C276C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35" name="Image 1" descr="img/ic_cube_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348533"/>
            <a:ext cx="252374" cy="252374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178040" y="3182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content and IP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7178040" y="34930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9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of 3D assets and simulations we already own and reuse.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6446520" y="4160520"/>
            <a:ext cx="548640" cy="548640"/>
          </a:xfrm>
          <a:prstGeom prst="ellipse">
            <a:avLst/>
          </a:prstGeom>
          <a:solidFill>
            <a:srgbClr val="2C276C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39" name="Image 2" descr="img/ic_ar_yel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53" y="4308653"/>
            <a:ext cx="252374" cy="25237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7178040" y="4142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XR capability in house</a:t>
            </a:r>
            <a:endParaRPr lang="en-US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7178040" y="44531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9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Story, 3D, engineering and AI under one roof, not brokered out.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6446520" y="5120640"/>
            <a:ext cx="548640" cy="548640"/>
          </a:xfrm>
          <a:prstGeom prst="ellipse">
            <a:avLst/>
          </a:prstGeom>
          <a:solidFill>
            <a:srgbClr val="2C276C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43" name="Image 3" descr="img/ic_mobile_yel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5268773"/>
            <a:ext cx="252374" cy="252374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7178040" y="51023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and low connectivity craft</a:t>
            </a:r>
            <a:endParaRPr lang="en-US" sz="1400" dirty="0"/>
          </a:p>
        </p:txBody>
      </p:sp>
      <p:sp>
        <p:nvSpPr>
          <p:cNvPr id="45" name="Text 39"/>
          <p:cNvSpPr txBox="1"/>
          <p:nvPr/>
        </p:nvSpPr>
        <p:spPr>
          <a:xfrm>
            <a:off x="7178040" y="54132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9B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immersive experiences that run with no network at all.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capability and technology infrastructure in the same company.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-10561320" y="4937760"/>
            <a:ext cx="1687068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-8686800" y="4937760"/>
            <a:ext cx="1499616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-6812280" y="4937760"/>
            <a:ext cx="1312164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-4937760" y="4937760"/>
            <a:ext cx="1124712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-3063240" y="4937760"/>
            <a:ext cx="937260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-1188720" y="4937760"/>
            <a:ext cx="749808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85800" y="4937760"/>
            <a:ext cx="562356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560320" y="4937760"/>
            <a:ext cx="374904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434840" y="4937760"/>
            <a:ext cx="187452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4937760"/>
            <a:ext cx="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4937760"/>
            <a:ext cx="187452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4937760"/>
            <a:ext cx="374904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4937760"/>
            <a:ext cx="562356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4937760"/>
            <a:ext cx="749808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4937760"/>
            <a:ext cx="937260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4937760"/>
            <a:ext cx="1124712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937760"/>
            <a:ext cx="1312164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4937760"/>
            <a:ext cx="1499616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4937760"/>
            <a:ext cx="16870680" cy="192024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065776"/>
            <a:ext cx="12191695" cy="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247559"/>
            <a:ext cx="12191695" cy="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505690"/>
            <a:ext cx="12191695" cy="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872237"/>
            <a:ext cx="12191695" cy="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392733"/>
            <a:ext cx="12191695" cy="0"/>
          </a:xfrm>
          <a:prstGeom prst="line">
            <a:avLst/>
          </a:prstGeom>
          <a:noFill/>
          <a:ln w="9525">
            <a:solidFill>
              <a:srgbClr val="332D7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ready for the next stage.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1508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seeking [INSERT FUNDING AMOUNT] to accelerate: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85800" y="21031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2377440"/>
            <a:ext cx="548640" cy="548640"/>
          </a:xfrm>
          <a:prstGeom prst="ellipse">
            <a:avLst/>
          </a:prstGeom>
          <a:solidFill>
            <a:srgbClr val="1A1748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31" name="Image 0" descr="img/ic_rocket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2525573"/>
            <a:ext cx="252374" cy="25237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960120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60120" y="3364992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scale the AR, VR and AI storytelling platform.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474720" y="21031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49040" y="2377440"/>
            <a:ext cx="548640" cy="548640"/>
          </a:xfrm>
          <a:prstGeom prst="ellipse">
            <a:avLst/>
          </a:prstGeom>
          <a:solidFill>
            <a:srgbClr val="1A1748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36" name="Image 1" descr="img/ic_brief_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173" y="2525573"/>
            <a:ext cx="252374" cy="252374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3749040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3749040" y="3364992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3D, engineering, product and commercial teams.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6263640" y="21031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537960" y="2377440"/>
            <a:ext cx="548640" cy="548640"/>
          </a:xfrm>
          <a:prstGeom prst="ellipse">
            <a:avLst/>
          </a:prstGeom>
          <a:solidFill>
            <a:srgbClr val="1A1748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41" name="Image 2" descr="img/ic_trend_yel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093" y="2525573"/>
            <a:ext cx="252374" cy="252374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6537960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400" dirty="0"/>
          </a:p>
        </p:txBody>
      </p:sp>
      <p:sp>
        <p:nvSpPr>
          <p:cNvPr id="43" name="Text 38"/>
          <p:cNvSpPr txBox="1"/>
          <p:nvPr/>
        </p:nvSpPr>
        <p:spPr>
          <a:xfrm>
            <a:off x="6537960" y="3364992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customer acquisition across Africa.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9052560" y="21031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2C276C"/>
          </a:solidFill>
          <a:ln w="12700">
            <a:solidFill>
              <a:srgbClr val="3A348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9326880" y="2377440"/>
            <a:ext cx="548640" cy="548640"/>
          </a:xfrm>
          <a:prstGeom prst="ellipse">
            <a:avLst/>
          </a:prstGeom>
          <a:solidFill>
            <a:srgbClr val="1A1748"/>
          </a:solidFill>
          <a:ln w="15875">
            <a:solidFill>
              <a:srgbClr val="FFEB59"/>
            </a:solidFill>
            <a:prstDash val="solid"/>
          </a:ln>
        </p:spPr>
      </p:sp>
      <p:pic>
        <p:nvPicPr>
          <p:cNvPr id="46" name="Image 3" descr="img/ic_theater_yel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525573"/>
            <a:ext cx="252374" cy="252374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9326880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E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endParaRPr lang="en-US" sz="1400" dirty="0"/>
          </a:p>
        </p:txBody>
      </p:sp>
      <p:sp>
        <p:nvSpPr>
          <p:cNvPr id="48" name="Text 42"/>
          <p:cNvSpPr txBox="1"/>
          <p:nvPr/>
        </p:nvSpPr>
        <p:spPr>
          <a:xfrm>
            <a:off x="9326880" y="3364992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original immersive worlds, characters and stories we own.</a:t>
            </a:r>
            <a:endParaRPr 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685800" y="4754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ambition is to build the pan African creative technology platform that lets Africa create, experience and commercialise its own digital IP.</a:t>
            </a:r>
            <a:endParaRPr lang="en-US" sz="1700" dirty="0"/>
          </a:p>
        </p:txBody>
      </p:sp>
      <p:pic>
        <p:nvPicPr>
          <p:cNvPr id="50" name="Image 4" descr="img/mark_yell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70448"/>
            <a:ext cx="658368" cy="448056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1508760" y="5943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CR8LABB.COM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786384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50" kern="0" dirty="0">
                <a:solidFill>
                  <a:srgbClr val="FFE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CREATE. EXPERIMENT. INNOVATE.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cr8labb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cr8labb - Immersive Storytelling in 3D</dc:title>
  <dc:subject>PptxGenJS Presentation</dc:subject>
  <dc:creator>cr8labb</dc:creator>
  <cp:lastModifiedBy>cr8labb</cp:lastModifiedBy>
  <cp:revision>1</cp:revision>
  <dcterms:created xsi:type="dcterms:W3CDTF">2026-08-28T07:45:52Z</dcterms:created>
  <dcterms:modified xsi:type="dcterms:W3CDTF">2026-08-28T07:45:52Z</dcterms:modified>
</cp:coreProperties>
</file>